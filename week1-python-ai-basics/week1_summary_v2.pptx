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第 1 周学习总结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9260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498DB"/>
                </a:solidFill>
                <a:latin typeface="Microsoft YaHei"/>
              </a:defRPr>
            </a:pPr>
            <a:r>
              <a:t>Python 基础 + 环境配置 + LLM 初体验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F8C8D"/>
                </a:solidFill>
                <a:latin typeface="Microsoft YaHei"/>
              </a:defRPr>
            </a:pPr>
            <a:r>
              <a:t>内容精要与面试考点（含答案）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本周知识全景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0" cy="457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417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Microsoft YaHei"/>
              </a:defRPr>
            </a:pPr>
            <a:r>
              <a:t>Python 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4173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变量 / 字符串 / 列表 / 字典 / 函数 / 循环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1371600" cy="457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24027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Microsoft YaHei"/>
              </a:defRPr>
            </a:pPr>
            <a:r>
              <a:t>Python 进阶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240279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类 / 模块 / 异常处理 / 异步编程 / 类型提示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017520"/>
            <a:ext cx="1371600" cy="457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Day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06323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Microsoft YaHei"/>
              </a:defRPr>
            </a:pPr>
            <a:r>
              <a:t>环境 +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063239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venv / pip / .env / 第一次调用 AI 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840480"/>
            <a:ext cx="1371600" cy="457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Day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8862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Microsoft YaHei"/>
              </a:defRPr>
            </a:pPr>
            <a:r>
              <a:t>大模型概念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8862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Token / Temperature / Prompt / 幻觉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663440"/>
            <a:ext cx="1371600" cy="457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Day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70915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Microsoft YaHei"/>
              </a:defRPr>
            </a:pPr>
            <a:r>
              <a:t>聊天机器人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709159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多轮对话 / 流式输出 / 指令系统 / 项目结构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486400"/>
            <a:ext cx="1371600" cy="457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Day 6-7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5532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Microsoft YaHei"/>
              </a:defRPr>
            </a:pPr>
            <a:r>
              <a:t>周项目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55321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文件读写 / 装饰器 / 异步并发 / 结构化输出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Day 1: Python 基础（对比 JS）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98DB"/>
                </a:solidFill>
                <a:latin typeface="Microsoft YaHei"/>
              </a:defRPr>
            </a:pPr>
            <a:r>
              <a:t>核心知识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Microsoft YaHei"/>
              </a:defRPr>
            </a:pPr>
            <a:r>
              <a:t>面试考点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变量: 无 const/let/var，直接赋值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f-string: f"Hello {name}" = JS 模板字符串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列表: list = JS Array，支持切片 arr[1:3]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列表推导式: [n*2 for n in arr] = arr.map()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字典: dict = JS Object，用 .get() 安全取值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函数: def fn():，支持多返回值 return a, b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缩进是语法: 4 空格代替 {}，缩进错 = 语法错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3498DB"/>
                </a:solidFill>
                <a:latin typeface="Microsoft YaHei"/>
              </a:defRPr>
            </a:pPr>
            <a:r>
              <a:t>Q: Python 和 JS 最大的语法区别？</a:t>
            </a:r>
          </a:p>
          <a:p>
            <a:pPr>
              <a:spcAft>
                <a:spcPts val="1200"/>
              </a:spcAft>
              <a:defRPr sz="1400">
                <a:solidFill>
                  <a:srgbClr val="1E8E4F"/>
                </a:solidFill>
                <a:latin typeface="Microsoft YaHei"/>
              </a:defRPr>
            </a:pPr>
            <a:r>
              <a:t>A: 缩进代替花括号（缩进错 = 语法错）、布尔值大写 True/False/None、无 const/let 直接赋值、elif 代替 else if。</a:t>
            </a:r>
          </a:p>
          <a:p>
            <a:pPr>
              <a:spcAft>
                <a:spcPts val="200"/>
              </a:spcAft>
              <a:defRPr sz="1500" b="1">
                <a:solidFill>
                  <a:srgbClr val="3498DB"/>
                </a:solidFill>
                <a:latin typeface="Microsoft YaHei"/>
              </a:defRPr>
            </a:pPr>
            <a:r>
              <a:t>Q: 列表推导式是什么？</a:t>
            </a:r>
          </a:p>
          <a:p>
            <a:pPr>
              <a:spcAft>
                <a:spcPts val="1200"/>
              </a:spcAft>
              <a:defRPr sz="1400">
                <a:solidFill>
                  <a:srgbClr val="1E8E4F"/>
                </a:solidFill>
                <a:latin typeface="Microsoft YaHei"/>
              </a:defRPr>
            </a:pPr>
            <a:r>
              <a:t>A: [n*2 for n in arr if n &gt; 0]，一行搞定 JS 的 arr.filter().map()。AI 开发中常用于批量处理数据。</a:t>
            </a:r>
          </a:p>
          <a:p>
            <a:pPr>
              <a:spcAft>
                <a:spcPts val="200"/>
              </a:spcAft>
              <a:defRPr sz="1500" b="1">
                <a:solidFill>
                  <a:srgbClr val="3498DB"/>
                </a:solidFill>
                <a:latin typeface="Microsoft YaHei"/>
              </a:defRPr>
            </a:pPr>
            <a:r>
              <a:t>Q: dict.get() 和 dict[] 的区别？</a:t>
            </a:r>
          </a:p>
          <a:p>
            <a:pPr>
              <a:spcAft>
                <a:spcPts val="1200"/>
              </a:spcAft>
              <a:defRPr sz="1400">
                <a:solidFill>
                  <a:srgbClr val="1E8E4F"/>
                </a:solidFill>
                <a:latin typeface="Microsoft YaHei"/>
              </a:defRPr>
            </a:pPr>
            <a:r>
              <a:t>A: dict[key] key 不存在报 KeyError，dict.get(key, default) 返回默认值不报错。等价于 JS 的 obj?.key ?? default。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Day 2: Python 进阶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98DB"/>
                </a:solidFill>
                <a:latin typeface="Microsoft YaHei"/>
              </a:defRPr>
            </a:pPr>
            <a:r>
              <a:t>核心知识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Microsoft YaHei"/>
              </a:defRPr>
            </a:pPr>
            <a:r>
              <a:t>面试考点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class: 必须写 self（= JS 的 this）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__init__: 构造函数（= JS 的 constructor）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继承: class B(A): （= JS 的 extends）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import: from mod import x（= JS import）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try/except: 异常处理（= JS try/catch）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async/await: 和 JS 几乎一样的语法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asyncio.gather(): = Promise.all()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类型提示: : str, : int（像 TS 但运行时不检查）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3498DB"/>
                </a:solidFill>
                <a:latin typeface="Microsoft YaHei"/>
              </a:defRPr>
            </a:pPr>
            <a:r>
              <a:t>Q: Python 的 self 和 JS 的 this 有什么区别？</a:t>
            </a:r>
          </a:p>
          <a:p>
            <a:pPr>
              <a:spcAft>
                <a:spcPts val="1200"/>
              </a:spcAft>
              <a:defRPr sz="1400">
                <a:solidFill>
                  <a:srgbClr val="1E8E4F"/>
                </a:solidFill>
                <a:latin typeface="Microsoft YaHei"/>
              </a:defRPr>
            </a:pPr>
            <a:r>
              <a:t>A: self 必须显式写在方法参数里（def fn(self):），JS 的 this 是隐式的。self 不是关键字，只是约定名。</a:t>
            </a:r>
          </a:p>
          <a:p>
            <a:pPr>
              <a:spcAft>
                <a:spcPts val="200"/>
              </a:spcAft>
              <a:defRPr sz="1500" b="1">
                <a:solidFill>
                  <a:srgbClr val="3498DB"/>
                </a:solidFill>
                <a:latin typeface="Microsoft YaHei"/>
              </a:defRPr>
            </a:pPr>
            <a:r>
              <a:t>Q: Python async 和 JS async 的区别？</a:t>
            </a:r>
          </a:p>
          <a:p>
            <a:pPr>
              <a:spcAft>
                <a:spcPts val="1200"/>
              </a:spcAft>
              <a:defRPr sz="1400">
                <a:solidFill>
                  <a:srgbClr val="1E8E4F"/>
                </a:solidFill>
                <a:latin typeface="Microsoft YaHei"/>
              </a:defRPr>
            </a:pPr>
            <a:r>
              <a:t>A: 语法几乎一样，但 Python 必须用 asyncio.run() 驱动，不能直接调 async 函数。JS 有事件循环自动处理。</a:t>
            </a:r>
          </a:p>
          <a:p>
            <a:pPr>
              <a:spcAft>
                <a:spcPts val="200"/>
              </a:spcAft>
              <a:defRPr sz="1500" b="1">
                <a:solidFill>
                  <a:srgbClr val="3498DB"/>
                </a:solidFill>
                <a:latin typeface="Microsoft YaHei"/>
              </a:defRPr>
            </a:pPr>
            <a:r>
              <a:t>Q: Python 类型提示和 TypeScript 的区别？</a:t>
            </a:r>
          </a:p>
          <a:p>
            <a:pPr>
              <a:spcAft>
                <a:spcPts val="1200"/>
              </a:spcAft>
              <a:defRPr sz="1400">
                <a:solidFill>
                  <a:srgbClr val="1E8E4F"/>
                </a:solidFill>
                <a:latin typeface="Microsoft YaHei"/>
              </a:defRPr>
            </a:pPr>
            <a:r>
              <a:t>A: TS 编译时强制检查类型，Python 类型提示只是注释，运行时不检查。但 Pydantic 可以实现运行时校验。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Day 3: 环境配置 + 第一次调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98DB"/>
                </a:solidFill>
                <a:latin typeface="Microsoft YaHei"/>
              </a:defRPr>
            </a:pPr>
            <a:r>
              <a:t>核心知识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Microsoft YaHei"/>
              </a:defRPr>
            </a:pPr>
            <a:r>
              <a:t>面试考点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venv: 虚拟环境（= node_modules 隔离依赖）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pip install: 安装包（= npm install）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requirements.txt: 依赖文件（= package.json）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.env + dotenv: 管理 API Key（和 JS 一样）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Anthropic SDK: client.messages.create()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OpenAI 兼容格式: 国产模型通用接口标准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3498DB"/>
                </a:solidFill>
                <a:latin typeface="Microsoft YaHei"/>
              </a:defRPr>
            </a:pPr>
            <a:r>
              <a:t>Q: 为什么要用虚拟环境？</a:t>
            </a:r>
          </a:p>
          <a:p>
            <a:pPr>
              <a:spcAft>
                <a:spcPts val="1200"/>
              </a:spcAft>
              <a:defRPr sz="1400">
                <a:solidFill>
                  <a:srgbClr val="1E8E4F"/>
                </a:solidFill>
                <a:latin typeface="Microsoft YaHei"/>
              </a:defRPr>
            </a:pPr>
            <a:r>
              <a:t>A: 隔离项目依赖，防止不同项目的包版本冲突。和 Node 的 node_modules 作用一样，但 Python 不自动隔离，要手动创建 venv。</a:t>
            </a:r>
          </a:p>
          <a:p>
            <a:pPr>
              <a:spcAft>
                <a:spcPts val="200"/>
              </a:spcAft>
              <a:defRPr sz="1500" b="1">
                <a:solidFill>
                  <a:srgbClr val="3498DB"/>
                </a:solidFill>
                <a:latin typeface="Microsoft YaHei"/>
              </a:defRPr>
            </a:pPr>
            <a:r>
              <a:t>Q: .env 文件为什么不能提交到 git？</a:t>
            </a:r>
          </a:p>
          <a:p>
            <a:pPr>
              <a:spcAft>
                <a:spcPts val="1200"/>
              </a:spcAft>
              <a:defRPr sz="1400">
                <a:solidFill>
                  <a:srgbClr val="1E8E4F"/>
                </a:solidFill>
                <a:latin typeface="Microsoft YaHei"/>
              </a:defRPr>
            </a:pPr>
            <a:r>
              <a:t>A: 包含 API Key 等密钥，泄露会被盗用产生费用。要加到 .gitignore。生产环境用环境变量注入，不用 .env 文件。</a:t>
            </a:r>
          </a:p>
          <a:p>
            <a:pPr>
              <a:spcAft>
                <a:spcPts val="200"/>
              </a:spcAft>
              <a:defRPr sz="1500" b="1">
                <a:solidFill>
                  <a:srgbClr val="3498DB"/>
                </a:solidFill>
                <a:latin typeface="Microsoft YaHei"/>
              </a:defRPr>
            </a:pPr>
            <a:r>
              <a:t>Q: OpenAI 兼容格式是什么？</a:t>
            </a:r>
          </a:p>
          <a:p>
            <a:pPr>
              <a:spcAft>
                <a:spcPts val="1200"/>
              </a:spcAft>
              <a:defRPr sz="1400">
                <a:solidFill>
                  <a:srgbClr val="1E8E4F"/>
                </a:solidFill>
                <a:latin typeface="Microsoft YaHei"/>
              </a:defRPr>
            </a:pPr>
            <a:r>
              <a:t>A: 行业标准 API 格式（messages 数组 + role/content），大多数国产模型（MiniMax、通义、文心）都兼容，学会一个通用。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npm vs pip 对照表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Node.js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143000"/>
            <a:ext cx="10515600" cy="5029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操作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Node.js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Microsoft YaHei"/>
              </a:defRPr>
            </a:pPr>
            <a:r>
              <a:t>创建环境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npm init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783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8E4F"/>
                </a:solidFill>
                <a:latin typeface="Microsoft YaHei"/>
              </a:defRPr>
            </a:pPr>
            <a:r>
              <a:t>python -m venv venv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Microsoft YaHei"/>
              </a:defRPr>
            </a:pPr>
            <a:r>
              <a:t>激活环境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自动（node_modules）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377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8E4F"/>
                </a:solidFill>
                <a:latin typeface="Microsoft YaHei"/>
              </a:defRPr>
            </a:pPr>
            <a:r>
              <a:t>source venv/Scripts/activate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971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Microsoft YaHei"/>
              </a:defRPr>
            </a:pPr>
            <a:r>
              <a:t>安装包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971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npm install axios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971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8E4F"/>
                </a:solidFill>
                <a:latin typeface="Microsoft YaHei"/>
              </a:defRPr>
            </a:pPr>
            <a:r>
              <a:t>pip install httpx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566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Microsoft YaHei"/>
              </a:defRPr>
            </a:pPr>
            <a:r>
              <a:t>安装全部依赖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566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npm install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8E4F"/>
                </a:solidFill>
                <a:latin typeface="Microsoft YaHei"/>
              </a:defRPr>
            </a:pPr>
            <a:r>
              <a:t>pip install -r requirements.txt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160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Microsoft YaHei"/>
              </a:defRPr>
            </a:pPr>
            <a:r>
              <a:t>依赖文件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160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package.json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4160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8E4F"/>
                </a:solidFill>
                <a:latin typeface="Microsoft YaHei"/>
              </a:defRPr>
            </a:pPr>
            <a:r>
              <a:t>requirements.txt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Microsoft YaHei"/>
              </a:defRPr>
            </a:pPr>
            <a:r>
              <a:t>锁定版本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package-lock.json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4754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8E4F"/>
                </a:solidFill>
                <a:latin typeface="Microsoft YaHei"/>
              </a:defRPr>
            </a:pPr>
            <a:r>
              <a:t>pip freeze &gt; requirements.txt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349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Microsoft YaHei"/>
              </a:defRPr>
            </a:pPr>
            <a:r>
              <a:t>运行脚本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5349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npm run dev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5349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8E4F"/>
                </a:solidFill>
                <a:latin typeface="Microsoft YaHei"/>
              </a:defRPr>
            </a:pPr>
            <a:r>
              <a:t>python main.py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Day 4: 大模型核心概念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98DB"/>
                </a:solidFill>
                <a:latin typeface="Microsoft YaHei"/>
              </a:defRPr>
            </a:pPr>
            <a:r>
              <a:t>核心知识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Microsoft YaHei"/>
              </a:defRPr>
            </a:pPr>
            <a:r>
              <a:t>面试考点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Token: 模型处理的最小单位（中文 1-2 字 = 1 token）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Temperature: 0=确定性输出，1=随机创意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top_p: 控制候选词范围，和 temperature 配合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max_tokens: 限制输出长度，太小会截断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System Prompt: 设定 AI 角色和行为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Few-shot: 给 2-3 个示例比长篇描述更管用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幻觉: AI 编造不存在的信息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3498DB"/>
                </a:solidFill>
                <a:latin typeface="Microsoft YaHei"/>
              </a:defRPr>
            </a:pPr>
            <a:r>
              <a:t>Q: Token 是什么？为什么要关注？</a:t>
            </a:r>
          </a:p>
          <a:p>
            <a:pPr>
              <a:spcAft>
                <a:spcPts val="1200"/>
              </a:spcAft>
              <a:defRPr sz="1400">
                <a:solidFill>
                  <a:srgbClr val="1E8E4F"/>
                </a:solidFill>
                <a:latin typeface="Microsoft YaHei"/>
              </a:defRPr>
            </a:pPr>
            <a:r>
              <a:t>A: 模型处理文本的最小单位，API 按 token 计费。中文 1-2 字约 1 token。prompt 越长越贵，要学会控制 token 消耗。</a:t>
            </a:r>
          </a:p>
          <a:p>
            <a:pPr>
              <a:spcAft>
                <a:spcPts val="200"/>
              </a:spcAft>
              <a:defRPr sz="1500" b="1">
                <a:solidFill>
                  <a:srgbClr val="3498DB"/>
                </a:solidFill>
                <a:latin typeface="Microsoft YaHei"/>
              </a:defRPr>
            </a:pPr>
            <a:r>
              <a:t>Q: Temperature 设多少合适？</a:t>
            </a:r>
          </a:p>
          <a:p>
            <a:pPr>
              <a:spcAft>
                <a:spcPts val="1200"/>
              </a:spcAft>
              <a:defRPr sz="1400">
                <a:solidFill>
                  <a:srgbClr val="1E8E4F"/>
                </a:solidFill>
                <a:latin typeface="Microsoft YaHei"/>
              </a:defRPr>
            </a:pPr>
            <a:r>
              <a:t>A: 代码生成/数据提取用 0~0.3（要确定性），创意写作/头脑风暴用 0.7~1.0（要多样性）。默认 1.0 通常偏高。</a:t>
            </a:r>
          </a:p>
          <a:p>
            <a:pPr>
              <a:spcAft>
                <a:spcPts val="200"/>
              </a:spcAft>
              <a:defRPr sz="1500" b="1">
                <a:solidFill>
                  <a:srgbClr val="3498DB"/>
                </a:solidFill>
                <a:latin typeface="Microsoft YaHei"/>
              </a:defRPr>
            </a:pPr>
            <a:r>
              <a:t>Q: 什么是 AI 幻觉？怎么缓解？</a:t>
            </a:r>
          </a:p>
          <a:p>
            <a:pPr>
              <a:spcAft>
                <a:spcPts val="1200"/>
              </a:spcAft>
              <a:defRPr sz="1400">
                <a:solidFill>
                  <a:srgbClr val="1E8E4F"/>
                </a:solidFill>
                <a:latin typeface="Microsoft YaHei"/>
              </a:defRPr>
            </a:pPr>
            <a:r>
              <a:t>A: AI 编造不存在的信息（假链接、假数据）。缓解: 要求引用来源、限定回答范围、用 RAG 提供事实依据、用 Tool Use 查真实数据。</a:t>
            </a:r>
          </a:p>
          <a:p>
            <a:pPr>
              <a:spcAft>
                <a:spcPts val="200"/>
              </a:spcAft>
              <a:defRPr sz="1500" b="1">
                <a:solidFill>
                  <a:srgbClr val="3498DB"/>
                </a:solidFill>
                <a:latin typeface="Microsoft YaHei"/>
              </a:defRPr>
            </a:pPr>
            <a:r>
              <a:t>Q: stop_reason 有几种？</a:t>
            </a:r>
          </a:p>
          <a:p>
            <a:pPr>
              <a:spcAft>
                <a:spcPts val="1200"/>
              </a:spcAft>
              <a:defRPr sz="1400">
                <a:solidFill>
                  <a:srgbClr val="1E8E4F"/>
                </a:solidFill>
                <a:latin typeface="Microsoft YaHei"/>
              </a:defRPr>
            </a:pPr>
            <a:r>
              <a:t>A: end_turn（正常结束）、max_tokens（被截断，要加大 max_tokens）、tool_use（要调工具）。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API 调用参数速查（必须掌握）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828800" cy="457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1325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模型名称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3258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必填，如 claude-opus-4-6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993391"/>
            <a:ext cx="1828800" cy="457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messages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039111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对话历史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039111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必填，[{role, content}] 数组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706624"/>
            <a:ext cx="18288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75234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系统提示词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752344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设定 AI 角色和行为边界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419856"/>
            <a:ext cx="18288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max_tokens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465575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最大输出长度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465575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太小截断，太大浪费，通常 500-2000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133087"/>
            <a:ext cx="1828800" cy="457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temperature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178807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随机性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4178807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0=确定，1=随机，提取任务用 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846320"/>
            <a:ext cx="1828800" cy="457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4892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工具定义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8920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Tool Use 时传入，让 AI 调函数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5559552"/>
            <a:ext cx="1828800" cy="457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stream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560527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流式输出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5605272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True=逐字返回，用户体验好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Day 5: 命令行聊天机器人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98DB"/>
                </a:solidFill>
                <a:latin typeface="Microsoft YaHei"/>
              </a:defRPr>
            </a:pPr>
            <a:r>
              <a:t>核心知识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Microsoft YaHei"/>
              </a:defRPr>
            </a:pPr>
            <a:r>
              <a:t>面试考点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项目结构: chatbot/ 目录拆模块（config/client/commands）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__init__.py: = JS 的 index.js，让文件夹成为可导入包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dataclass: 定义配置类（= TS interface 但更强）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多轮对话: 维护 messages 数组，每次带全部历史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流式输出: stream=True，逐字打印（必须掌握）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指令系统: /help、/clear、/save 斜杠命令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JSON 持久化: json.dump() 保存对话记录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3498DB"/>
                </a:solidFill>
                <a:latin typeface="Microsoft YaHei"/>
              </a:defRPr>
            </a:pPr>
            <a:r>
              <a:t>Q: 为什么 AI 产品几乎都要流式输出？</a:t>
            </a:r>
          </a:p>
          <a:p>
            <a:pPr>
              <a:spcAft>
                <a:spcPts val="1200"/>
              </a:spcAft>
              <a:defRPr sz="1400">
                <a:solidFill>
                  <a:srgbClr val="1E8E4F"/>
                </a:solidFill>
                <a:latin typeface="Microsoft YaHei"/>
              </a:defRPr>
            </a:pPr>
            <a:r>
              <a:t>A: 大模型生成慢（几秒到几十秒），流式输出让用户边看边等，体验好很多。非流式要等全部生成完才显示，用户以为卡住了。</a:t>
            </a:r>
          </a:p>
          <a:p>
            <a:pPr>
              <a:spcAft>
                <a:spcPts val="200"/>
              </a:spcAft>
              <a:defRPr sz="1500" b="1">
                <a:solidFill>
                  <a:srgbClr val="3498DB"/>
                </a:solidFill>
                <a:latin typeface="Microsoft YaHei"/>
              </a:defRPr>
            </a:pPr>
            <a:r>
              <a:t>Q: 多轮对话怎么实现？</a:t>
            </a:r>
          </a:p>
          <a:p>
            <a:pPr>
              <a:spcAft>
                <a:spcPts val="1200"/>
              </a:spcAft>
              <a:defRPr sz="1400">
                <a:solidFill>
                  <a:srgbClr val="1E8E4F"/>
                </a:solidFill>
                <a:latin typeface="Microsoft YaHei"/>
              </a:defRPr>
            </a:pPr>
            <a:r>
              <a:t>A: 维护 messages 数组，每次请求把所有历史消息都发给 API。AI 没有记忆，每次都要重新读全部历史。所以历史越长 token 越贵。</a:t>
            </a:r>
          </a:p>
          <a:p>
            <a:pPr>
              <a:spcAft>
                <a:spcPts val="200"/>
              </a:spcAft>
              <a:defRPr sz="1500" b="1">
                <a:solidFill>
                  <a:srgbClr val="3498DB"/>
                </a:solidFill>
                <a:latin typeface="Microsoft YaHei"/>
              </a:defRPr>
            </a:pPr>
            <a:r>
              <a:t>Q: __init__.py 是干什么的？</a:t>
            </a:r>
          </a:p>
          <a:p>
            <a:pPr>
              <a:spcAft>
                <a:spcPts val="1200"/>
              </a:spcAft>
              <a:defRPr sz="1400">
                <a:solidFill>
                  <a:srgbClr val="1E8E4F"/>
                </a:solidFill>
                <a:latin typeface="Microsoft YaHei"/>
              </a:defRPr>
            </a:pPr>
            <a:r>
              <a:t>A: 让 Python 把文件夹当作可导入的包（模块）。类似 JS 的 index.js。没有它，from chatbot import x 会报错。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流式输出（面试高频 + 实战必备）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Microsoft YaHei"/>
              </a:defRPr>
            </a:pPr>
            <a:r>
              <a:t>非流式（一次性返回）: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response = client.messages.create(model=..., messages=...)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print(response.content[0].text)  # 等全部生成完才输出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Microsoft YaHei"/>
              </a:defRPr>
            </a:pPr>
            <a:r>
              <a:t>流式（逐字返回）: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with client.messages.stream(model=..., messages=...) as stream: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    for text in stream.text_stream:  print(text, end='', flush=True)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98DB"/>
                </a:solidFill>
                <a:latin typeface="Microsoft YaHei"/>
              </a:defRPr>
            </a:pPr>
            <a:r>
              <a:t>JS 类比: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非流式 = await response.json()  等全部数据到齐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12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流式 = response.body.getReader()  边读边处理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Microsoft YaHei"/>
              </a:defRPr>
            </a:pPr>
            <a:r>
              <a:t>面试答法: 流式输出用 SSE（Server-Sent Events）逐 chunk 推送，前端用 EventSource 或 ReadableStream 接收。Token 消耗和非流式一样，只是传输方式不同。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Day 6-7: 综合项目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98DB"/>
                </a:solidFill>
                <a:latin typeface="Microsoft YaHei"/>
              </a:defRPr>
            </a:pPr>
            <a:r>
              <a:t>核心知识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Microsoft YaHei"/>
              </a:defRPr>
            </a:pPr>
            <a:r>
              <a:t>面试考点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文件读写: open() + with 语法（自动关闭）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Path: pathlib.Path 操作文件路径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encoding='utf-8': Windows 必须显式指定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装饰器: @decorator（= JS 高阶函数/HOC）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asyncio.gather(): 并行 AI 调用（= Promise.all）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结构化输出: 让 AI 返回 JSON + try/except 校验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3498DB"/>
                </a:solidFill>
                <a:latin typeface="Microsoft YaHei"/>
              </a:defRPr>
            </a:pPr>
            <a:r>
              <a:t>Q: Python 装饰器是什么？</a:t>
            </a:r>
          </a:p>
          <a:p>
            <a:pPr>
              <a:spcAft>
                <a:spcPts val="1200"/>
              </a:spcAft>
              <a:defRPr sz="1400">
                <a:solidFill>
                  <a:srgbClr val="1E8E4F"/>
                </a:solidFill>
                <a:latin typeface="Microsoft YaHei"/>
              </a:defRPr>
            </a:pPr>
            <a:r>
              <a:t>A: 本质是高阶函数，接收函数返回新函数。@timer 等价于 fn = timer(fn)。类比 React 的 HOC: withAuth(Component)。</a:t>
            </a:r>
          </a:p>
          <a:p>
            <a:pPr>
              <a:spcAft>
                <a:spcPts val="200"/>
              </a:spcAft>
              <a:defRPr sz="1500" b="1">
                <a:solidFill>
                  <a:srgbClr val="3498DB"/>
                </a:solidFill>
                <a:latin typeface="Microsoft YaHei"/>
              </a:defRPr>
            </a:pPr>
            <a:r>
              <a:t>Q: asyncio.gather 和 Promise.all 有什么区别？</a:t>
            </a:r>
          </a:p>
          <a:p>
            <a:pPr>
              <a:spcAft>
                <a:spcPts val="1200"/>
              </a:spcAft>
              <a:defRPr sz="1400">
                <a:solidFill>
                  <a:srgbClr val="1E8E4F"/>
                </a:solidFill>
                <a:latin typeface="Microsoft YaHei"/>
              </a:defRPr>
            </a:pPr>
            <a:r>
              <a:t>A: 功能一样——并行执行多个异步任务，等全部完成。区别是 Python 必须用 asyncio.run() 启动事件循环，JS 自带事件循环。</a:t>
            </a:r>
          </a:p>
          <a:p>
            <a:pPr>
              <a:spcAft>
                <a:spcPts val="200"/>
              </a:spcAft>
              <a:defRPr sz="1500" b="1">
                <a:solidFill>
                  <a:srgbClr val="3498DB"/>
                </a:solidFill>
                <a:latin typeface="Microsoft YaHei"/>
              </a:defRPr>
            </a:pPr>
            <a:r>
              <a:t>Q: 为什么 AI 返回的 JSON 要 try/except？</a:t>
            </a:r>
          </a:p>
          <a:p>
            <a:pPr>
              <a:spcAft>
                <a:spcPts val="1200"/>
              </a:spcAft>
              <a:defRPr sz="1400">
                <a:solidFill>
                  <a:srgbClr val="1E8E4F"/>
                </a:solidFill>
                <a:latin typeface="Microsoft YaHei"/>
              </a:defRPr>
            </a:pPr>
            <a:r>
              <a:t>A: AI 输出不可控，可能夹杂 markdown 标记或多余文字，json.loads() 会报错。生产环境必须捕获异常并 fallback。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JS vs Python 核心对照（面试快速回答）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0515600" cy="457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2161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概念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21615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JavaScript / TypeScript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21615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91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变量声明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691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const / let / var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8E4F"/>
                </a:solidFill>
                <a:latin typeface="Microsoft YaHei"/>
              </a:defRPr>
            </a:pPr>
            <a:r>
              <a:t>直接赋值（无声明关键字）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1671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模板字符串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16712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`Hello ${name}`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671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8E4F"/>
                </a:solidFill>
                <a:latin typeface="Microsoft YaHei"/>
              </a:defRPr>
            </a:pPr>
            <a:r>
              <a:t>f"Hello {name}"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4261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数组操作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64261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arr.map().filter()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64261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8E4F"/>
                </a:solidFill>
                <a:latin typeface="Microsoft YaHei"/>
              </a:defRPr>
            </a:pPr>
            <a:r>
              <a:t>[x for x in arr if ...]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1810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类的 this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11810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this（隐式）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11810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8E4F"/>
                </a:solidFill>
                <a:latin typeface="Microsoft YaHei"/>
              </a:defRPr>
            </a:pPr>
            <a:r>
              <a:t>self（显式写在参数里）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5935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异步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5935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async/await + 自动事件循环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5935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8E4F"/>
                </a:solidFill>
                <a:latin typeface="Microsoft YaHei"/>
              </a:defRPr>
            </a:pPr>
            <a:r>
              <a:t>async/await + asyncio.run()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类型系统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069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TypeScript（编译时检查）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069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8E4F"/>
                </a:solidFill>
                <a:latin typeface="Microsoft YaHei"/>
              </a:defRPr>
            </a:pPr>
            <a:r>
              <a:t>类型提示（运行时不检查）+ Pydantic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5445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包管理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54456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npm + package.json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5445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8E4F"/>
                </a:solidFill>
                <a:latin typeface="Microsoft YaHei"/>
              </a:defRPr>
            </a:pPr>
            <a:r>
              <a:t>pip + requirements.txt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02005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代码块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502005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{ 花括号 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502005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8E4F"/>
                </a:solidFill>
                <a:latin typeface="Microsoft YaHei"/>
              </a:defRPr>
            </a:pPr>
            <a:r>
              <a:t>缩进（4 空格）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49554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空值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549554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null / undefined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549554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8E4F"/>
                </a:solidFill>
                <a:latin typeface="Microsoft YaHei"/>
              </a:defRPr>
            </a:pPr>
            <a:r>
              <a:t>None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5971031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异常处理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5971031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try { } catch (e) { 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5971031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8E4F"/>
                </a:solidFill>
                <a:latin typeface="Microsoft YaHei"/>
              </a:defRPr>
            </a:pPr>
            <a:r>
              <a:t>try: ... except Exception as e: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高频面试题 + 答案（上）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3498DB"/>
                </a:solidFill>
                <a:latin typeface="Microsoft YaHei"/>
              </a:defRPr>
            </a:pPr>
            <a:r>
              <a:t>1. Python 和 JavaScript 最大的区别是什么？</a:t>
            </a:r>
          </a:p>
          <a:p>
            <a:pPr>
              <a:spcAft>
                <a:spcPts val="1200"/>
              </a:spcAft>
              <a:defRPr sz="1300">
                <a:solidFill>
                  <a:srgbClr val="1E8E4F"/>
                </a:solidFill>
                <a:latin typeface="Microsoft YaHei"/>
              </a:defRPr>
            </a:pPr>
            <a:r>
              <a:t>A: 缩进是语法（不是风格）、动态类型但有类型提示、self 显式传参、asyncio 需要手动启事件循环。对前端来说最容易踩坑的是缩进和 self。</a:t>
            </a:r>
          </a:p>
          <a:p>
            <a:pPr>
              <a:spcAft>
                <a:spcPts val="200"/>
              </a:spcAft>
              <a:defRPr sz="1400" b="1">
                <a:solidFill>
                  <a:srgbClr val="3498DB"/>
                </a:solidFill>
                <a:latin typeface="Microsoft YaHei"/>
              </a:defRPr>
            </a:pPr>
            <a:r>
              <a:t>2. 什么是 Token？为什么要关注？</a:t>
            </a:r>
          </a:p>
          <a:p>
            <a:pPr>
              <a:spcAft>
                <a:spcPts val="1200"/>
              </a:spcAft>
              <a:defRPr sz="1300">
                <a:solidFill>
                  <a:srgbClr val="1E8E4F"/>
                </a:solidFill>
                <a:latin typeface="Microsoft YaHei"/>
              </a:defRPr>
            </a:pPr>
            <a:r>
              <a:t>A: 大模型处理文本的最小单位，API 按 input + output token 计费。中文 1-2 字约 1 token。prompt 越长越贵、响应也越慢。优化 token = 优化成本和延迟。</a:t>
            </a:r>
          </a:p>
          <a:p>
            <a:pPr>
              <a:spcAft>
                <a:spcPts val="200"/>
              </a:spcAft>
              <a:defRPr sz="1400" b="1">
                <a:solidFill>
                  <a:srgbClr val="3498DB"/>
                </a:solidFill>
                <a:latin typeface="Microsoft YaHei"/>
              </a:defRPr>
            </a:pPr>
            <a:r>
              <a:t>3. Temperature 和 top_p 分别控制什么？</a:t>
            </a:r>
          </a:p>
          <a:p>
            <a:pPr>
              <a:spcAft>
                <a:spcPts val="1200"/>
              </a:spcAft>
              <a:defRPr sz="1300">
                <a:solidFill>
                  <a:srgbClr val="1E8E4F"/>
                </a:solidFill>
                <a:latin typeface="Microsoft YaHei"/>
              </a:defRPr>
            </a:pPr>
            <a:r>
              <a:t>A: Temperature 控制输出随机性（0=确定，1=随机），top_p 控制候选词范围（0.1=只选最可能的）。数据提取用低 temperature（0~0.3），创意写作用高（0.7~1.0）。两者通常不同时调。</a:t>
            </a:r>
          </a:p>
          <a:p>
            <a:pPr>
              <a:spcAft>
                <a:spcPts val="200"/>
              </a:spcAft>
              <a:defRPr sz="1400" b="1">
                <a:solidFill>
                  <a:srgbClr val="3498DB"/>
                </a:solidFill>
                <a:latin typeface="Microsoft YaHei"/>
              </a:defRPr>
            </a:pPr>
            <a:r>
              <a:t>4. 流式输出为什么重要？怎么实现？</a:t>
            </a:r>
          </a:p>
          <a:p>
            <a:pPr>
              <a:spcAft>
                <a:spcPts val="1200"/>
              </a:spcAft>
              <a:defRPr sz="1300">
                <a:solidFill>
                  <a:srgbClr val="1E8E4F"/>
                </a:solidFill>
                <a:latin typeface="Microsoft YaHei"/>
              </a:defRPr>
            </a:pPr>
            <a:r>
              <a:t>A: 大模型生成慢，流式让用户边看边等。后端用 SSE 推送，前端用 EventSource/ReadableStream 接收。Token 消耗和非流式一样，只是传输方式不同。</a:t>
            </a:r>
          </a:p>
          <a:p>
            <a:pPr>
              <a:spcAft>
                <a:spcPts val="200"/>
              </a:spcAft>
              <a:defRPr sz="1400" b="1">
                <a:solidFill>
                  <a:srgbClr val="3498DB"/>
                </a:solidFill>
                <a:latin typeface="Microsoft YaHei"/>
              </a:defRPr>
            </a:pPr>
            <a:r>
              <a:t>5. 虚拟环境 (venv) 是什么？为什么要用？</a:t>
            </a:r>
          </a:p>
          <a:p>
            <a:pPr>
              <a:spcAft>
                <a:spcPts val="1200"/>
              </a:spcAft>
              <a:defRPr sz="1300">
                <a:solidFill>
                  <a:srgbClr val="1E8E4F"/>
                </a:solidFill>
                <a:latin typeface="Microsoft YaHei"/>
              </a:defRPr>
            </a:pPr>
            <a:r>
              <a:t>A: 隔离项目依赖的机制。不同项目可能依赖同一个库的不同版本，venv 让它们互不影响。等价于 Node 的 node_modules，但 Python 不自动隔离，要手动创建。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高频面试题 + 答案（下）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3498DB"/>
                </a:solidFill>
                <a:latin typeface="Microsoft YaHei"/>
              </a:defRPr>
            </a:pPr>
            <a:r>
              <a:t>6. 多轮对话怎么实现？AI 有记忆吗？</a:t>
            </a:r>
          </a:p>
          <a:p>
            <a:pPr>
              <a:spcAft>
                <a:spcPts val="1200"/>
              </a:spcAft>
              <a:defRPr sz="1300">
                <a:solidFill>
                  <a:srgbClr val="1E8E4F"/>
                </a:solidFill>
                <a:latin typeface="Microsoft YaHei"/>
              </a:defRPr>
            </a:pPr>
            <a:r>
              <a:t>A: AI 没有记忆。每次请求都把完整的 messages 历史数组发给 API，AI 重新阅读全部历史。所以对话越长 token 消耗越大，实际项目需要截断或摘要策略。</a:t>
            </a:r>
          </a:p>
          <a:p>
            <a:pPr>
              <a:spcAft>
                <a:spcPts val="200"/>
              </a:spcAft>
              <a:defRPr sz="1400" b="1">
                <a:solidFill>
                  <a:srgbClr val="3498DB"/>
                </a:solidFill>
                <a:latin typeface="Microsoft YaHei"/>
              </a:defRPr>
            </a:pPr>
            <a:r>
              <a:t>7. 什么是 AI 幻觉？怎么缓解？</a:t>
            </a:r>
          </a:p>
          <a:p>
            <a:pPr>
              <a:spcAft>
                <a:spcPts val="1200"/>
              </a:spcAft>
              <a:defRPr sz="1300">
                <a:solidFill>
                  <a:srgbClr val="1E8E4F"/>
                </a:solidFill>
                <a:latin typeface="Microsoft YaHei"/>
              </a:defRPr>
            </a:pPr>
            <a:r>
              <a:t>A: AI 编造不存在的信息（假数据、假链接）。缓解: 限定回答范围（System Prompt）、要求引用来源、用 RAG 提供事实依据、用 Tool Use 查真实数据、不信任模型的事实性回答。</a:t>
            </a:r>
          </a:p>
          <a:p>
            <a:pPr>
              <a:spcAft>
                <a:spcPts val="200"/>
              </a:spcAft>
              <a:defRPr sz="1400" b="1">
                <a:solidFill>
                  <a:srgbClr val="3498DB"/>
                </a:solidFill>
                <a:latin typeface="Microsoft YaHei"/>
              </a:defRPr>
            </a:pPr>
            <a:r>
              <a:t>8. Python 的 async/await 和 JS 有什么不同？</a:t>
            </a:r>
          </a:p>
          <a:p>
            <a:pPr>
              <a:spcAft>
                <a:spcPts val="1200"/>
              </a:spcAft>
              <a:defRPr sz="1300">
                <a:solidFill>
                  <a:srgbClr val="1E8E4F"/>
                </a:solidFill>
                <a:latin typeface="Microsoft YaHei"/>
              </a:defRPr>
            </a:pPr>
            <a:r>
              <a:t>A: 语法几乎一样。最大区别: JS 有内置事件循环自动运行 async 函数，Python 必须用 asyncio.run() 手动启动。asyncio.gather() = Promise.all()。</a:t>
            </a:r>
          </a:p>
          <a:p>
            <a:pPr>
              <a:spcAft>
                <a:spcPts val="200"/>
              </a:spcAft>
              <a:defRPr sz="1400" b="1">
                <a:solidFill>
                  <a:srgbClr val="3498DB"/>
                </a:solidFill>
                <a:latin typeface="Microsoft YaHei"/>
              </a:defRPr>
            </a:pPr>
            <a:r>
              <a:t>9. 装饰器是什么？举个 AI 开发中的例子？</a:t>
            </a:r>
          </a:p>
          <a:p>
            <a:pPr>
              <a:spcAft>
                <a:spcPts val="1200"/>
              </a:spcAft>
              <a:defRPr sz="1300">
                <a:solidFill>
                  <a:srgbClr val="1E8E4F"/>
                </a:solidFill>
                <a:latin typeface="Microsoft YaHei"/>
              </a:defRPr>
            </a:pPr>
            <a:r>
              <a:t>A: 高阶函数语法糖。@retry 给 API 调用加重试、@timer 统计耗时、@tool 把函数注册为 AI 可调用的工具。本质: fn = decorator(fn)，类比 React 的 withAuth(Component)。</a:t>
            </a:r>
          </a:p>
          <a:p>
            <a:pPr>
              <a:spcAft>
                <a:spcPts val="200"/>
              </a:spcAft>
              <a:defRPr sz="1400" b="1">
                <a:solidFill>
                  <a:srgbClr val="3498DB"/>
                </a:solidFill>
                <a:latin typeface="Microsoft YaHei"/>
              </a:defRPr>
            </a:pPr>
            <a:r>
              <a:t>10. API Key 安全管理的最佳实践？</a:t>
            </a:r>
          </a:p>
          <a:p>
            <a:pPr>
              <a:spcAft>
                <a:spcPts val="1200"/>
              </a:spcAft>
              <a:defRPr sz="1300">
                <a:solidFill>
                  <a:srgbClr val="1E8E4F"/>
                </a:solidFill>
                <a:latin typeface="Microsoft YaHei"/>
              </a:defRPr>
            </a:pPr>
            <a:r>
              <a:t>A: 用 .env 文件 + python-dotenv 加载，.env 加入 .gitignore 永不提交。生产环境用环境变量注入（Docker env / 云平台配置），不硬编码在代码里。泄露就立刻轮换 Key。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周项目: 命令行 AI 聊天机器人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F8C8D"/>
                </a:solidFill>
                <a:latin typeface="Microsoft YaHei"/>
              </a:defRPr>
            </a:pPr>
            <a:r>
              <a:t>整合 Day 1-5 全部技能，面试时用这个项目讲 Python 基础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98DB"/>
                </a:solidFill>
                <a:latin typeface="Microsoft YaHei"/>
              </a:defRPr>
            </a:pPr>
            <a:r>
              <a:t>chatbot/config.py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配置管理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Day 3: .env + dataclass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3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98DB"/>
                </a:solidFill>
                <a:latin typeface="Microsoft YaHei"/>
              </a:defRPr>
            </a:pPr>
            <a:r>
              <a:t>chatbot/client.py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3774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AI 客户端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3774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Day 3-4: API 调用 + 流式输出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98DB"/>
                </a:solidFill>
                <a:latin typeface="Microsoft YaHei"/>
              </a:defRPr>
            </a:pPr>
            <a:r>
              <a:t>chatbot/commands.py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指令系统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Day 1-2: 函数 + 字典路由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5759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98DB"/>
                </a:solidFill>
                <a:latin typeface="Microsoft YaHei"/>
              </a:defRPr>
            </a:pPr>
            <a:r>
              <a:t>chatbot/__init__.py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65759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包入口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65759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Day 2: 模块系统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9767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98DB"/>
                </a:solidFill>
                <a:latin typeface="Microsoft YaHei"/>
              </a:defRPr>
            </a:pPr>
            <a:r>
              <a:t>05_chatbot.py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2976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主入口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2976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Day 5: 多轮对话 + 流式输出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37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98DB"/>
                </a:solidFill>
                <a:latin typeface="Microsoft YaHei"/>
              </a:defRPr>
            </a:pPr>
            <a:r>
              <a:t>06_advanced_project.py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937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综合项目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937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Day 6-7: 装饰器 + 异步 + 结构化输出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60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8E4F"/>
                </a:solidFill>
                <a:latin typeface="Microsoft YaHei"/>
              </a:defRPr>
            </a:pPr>
            <a:r>
              <a:t>面试讲法: 这是我学 Python 第一周做的项目。用模块化结构组织代码，实现了多轮对话 + 流式输出 + 指令系统。虽然简单，但覆盖了 Python 类、异步、文件 IO、API 调用等核心知识。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64592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第 1 周完成 -- 掌握清单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7432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7F8C8D"/>
                </a:solidFill>
                <a:latin typeface="Microsoft YaHei"/>
              </a:defRPr>
            </a:pPr>
            <a:r>
              <a:t>  Python 基础语法（变量/列表/字典/函数/类）</a:t>
            </a:r>
          </a:p>
          <a:p>
            <a:pPr>
              <a:spcAft>
                <a:spcPts val="700"/>
              </a:spcAft>
              <a:defRPr sz="1800">
                <a:solidFill>
                  <a:srgbClr val="7F8C8D"/>
                </a:solidFill>
                <a:latin typeface="Microsoft YaHei"/>
              </a:defRPr>
            </a:pPr>
            <a:r>
              <a:t>  模块系统 + 虚拟环境 + pip</a:t>
            </a:r>
          </a:p>
          <a:p>
            <a:pPr>
              <a:spcAft>
                <a:spcPts val="700"/>
              </a:spcAft>
              <a:defRPr sz="1800">
                <a:solidFill>
                  <a:srgbClr val="7F8C8D"/>
                </a:solidFill>
                <a:latin typeface="Microsoft YaHei"/>
              </a:defRPr>
            </a:pPr>
            <a:r>
              <a:t>  Anthropic SDK 调用 API</a:t>
            </a:r>
          </a:p>
          <a:p>
            <a:pPr>
              <a:spcAft>
                <a:spcPts val="700"/>
              </a:spcAft>
              <a:defRPr sz="1800">
                <a:solidFill>
                  <a:srgbClr val="7F8C8D"/>
                </a:solidFill>
                <a:latin typeface="Microsoft YaHei"/>
              </a:defRPr>
            </a:pPr>
            <a:r>
              <a:t>  Token / Temperature / System Prompt</a:t>
            </a:r>
          </a:p>
          <a:p>
            <a:pPr>
              <a:spcAft>
                <a:spcPts val="700"/>
              </a:spcAft>
              <a:defRPr sz="1800">
                <a:solidFill>
                  <a:srgbClr val="7F8C8D"/>
                </a:solidFill>
                <a:latin typeface="Microsoft YaHei"/>
              </a:defRPr>
            </a:pPr>
            <a:r>
              <a:t>  多轮对话 + 流式输出</a:t>
            </a:r>
          </a:p>
          <a:p>
            <a:pPr>
              <a:spcAft>
                <a:spcPts val="700"/>
              </a:spcAft>
              <a:defRPr sz="1800">
                <a:solidFill>
                  <a:srgbClr val="7F8C8D"/>
                </a:solidFill>
                <a:latin typeface="Microsoft YaHei"/>
              </a:defRPr>
            </a:pPr>
            <a:r>
              <a:t>  异步编程（asyncio.gather）</a:t>
            </a:r>
          </a:p>
          <a:p>
            <a:pPr>
              <a:spcAft>
                <a:spcPts val="700"/>
              </a:spcAft>
              <a:defRPr sz="1800">
                <a:solidFill>
                  <a:srgbClr val="7F8C8D"/>
                </a:solidFill>
                <a:latin typeface="Microsoft YaHei"/>
              </a:defRPr>
            </a:pPr>
            <a:r>
              <a:t>  装饰器 + 结构化输出</a:t>
            </a:r>
          </a:p>
          <a:p>
            <a:pPr>
              <a:spcAft>
                <a:spcPts val="700"/>
              </a:spcAft>
              <a:defRPr sz="1800">
                <a:solidFill>
                  <a:srgbClr val="7F8C8D"/>
                </a:solidFill>
                <a:latin typeface="Microsoft YaHei"/>
              </a:defRPr>
            </a:pPr>
            <a:r>
              <a:t>  周项目: 命令行 AI 聊天机器人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2179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498DB"/>
                </a:solidFill>
                <a:latin typeface="Microsoft YaHei"/>
              </a:defRPr>
            </a:pPr>
            <a:r>
              <a:t>下周: Prompt Engineering + 结构化输出 + LangChain + 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