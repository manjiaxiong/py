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Python 第一周学习总结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9B4FA"/>
                </a:solidFill>
              </a:defRPr>
            </a:pPr>
            <a:r>
              <a:t>From JavaScript to Python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</a:defRPr>
            </a:pPr>
            <a:r>
              <a:t>2026 年 4 月  |  前端工程师的 Python 之旅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</a:defRPr>
            </a:pPr>
            <a:r>
              <a:t>学习路线图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68680" cy="320040"/>
          </a:xfrm>
          <a:prstGeom prst="rect">
            <a:avLst/>
          </a:prstGeom>
          <a:solidFill>
            <a:srgbClr val="89B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789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</a:defRPr>
            </a:pPr>
            <a:r>
              <a:t>Python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78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</a:defRPr>
            </a:pPr>
            <a:r>
              <a:t>变量、字符串、列表、字典、函数、循环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868680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733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</a:defRPr>
            </a:pPr>
            <a:r>
              <a:t>进阶语法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733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</a:defRPr>
            </a:pPr>
            <a:r>
              <a:t>类、继承、模块、异常处理、异步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868680" cy="320040"/>
          </a:xfrm>
          <a:prstGeom prst="rect">
            <a:avLst/>
          </a:prstGeom>
          <a:solidFill>
            <a:srgbClr val="FAB3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Day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67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</a:defRPr>
            </a:pPr>
            <a:r>
              <a:t>环境与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677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</a:defRPr>
            </a:pPr>
            <a:r>
              <a:t>venv、pip、.env、API 调用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868680" cy="320040"/>
          </a:xfrm>
          <a:prstGeom prst="rect">
            <a:avLst/>
          </a:prstGeom>
          <a:solidFill>
            <a:srgbClr val="F9E2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Day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62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</a:defRPr>
            </a:pPr>
            <a:r>
              <a:t>LLM 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62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</a:defRPr>
            </a:pPr>
            <a:r>
              <a:t>Token、Temperature、Prompt、Few-shot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868680" cy="320040"/>
          </a:xfrm>
          <a:prstGeom prst="rect">
            <a:avLst/>
          </a:prstGeom>
          <a:solidFill>
            <a:srgbClr val="89B4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Day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56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</a:defRPr>
            </a:pPr>
            <a:r>
              <a:t>聊天机器人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56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</a:defRPr>
            </a:pPr>
            <a:r>
              <a:t>模块架构、流式输出、命令系统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868680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Day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50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</a:defRPr>
            </a:pPr>
            <a:r>
              <a:t>综合项目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050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0"/>
                </a:solidFill>
              </a:defRPr>
            </a:pPr>
            <a:r>
              <a:t>笔记生成器、异步并发、装饰器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9B4FA"/>
                </a:solidFill>
              </a:defRPr>
            </a:pPr>
            <a:r>
              <a:t>Day 1: Python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</a:defRPr>
            </a:pPr>
            <a:r>
              <a:t>对比 JavaScript 快速上手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</a:defRPr>
            </a:pPr>
            <a:r>
              <a:t>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const name = 'Alice'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`Hello ${name}`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arr.push() / arr.map()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obj.key / obj['key']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function fn() { }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arr.slice(1,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name = 'Alice'  (无需声明)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f"Hello {name}"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list.append() / 列表推导式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dict['key'] / dict.get('key')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def fn():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arr[1:4]  (切片语法)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6E3A1"/>
                </a:solidFill>
              </a:defRPr>
            </a:pPr>
            <a:r>
              <a:t>Day 2: 进阶语法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89B4FA"/>
                </a:solidFill>
              </a:rPr>
              <a:t>  &gt;  </a:t>
            </a:r>
            <a:r>
              <a:rPr sz="1600">
                <a:solidFill>
                  <a:srgbClr val="F5F5F5"/>
                </a:solidFill>
              </a:rPr>
              <a:t>类: class + __init__() + self（JS: constructor + this）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89B4FA"/>
                </a:solidFill>
              </a:rPr>
              <a:t>  &gt;  </a:t>
            </a:r>
            <a:r>
              <a:rPr sz="1600">
                <a:solidFill>
                  <a:srgbClr val="F5F5F5"/>
                </a:solidFill>
              </a:rPr>
              <a:t>继承: class Child(Parent)（JS: class Child extends Parent）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89B4FA"/>
                </a:solidFill>
              </a:rPr>
              <a:t>  &gt;  </a:t>
            </a:r>
            <a:r>
              <a:rPr sz="1600">
                <a:solidFill>
                  <a:srgbClr val="F5F5F5"/>
                </a:solidFill>
              </a:rPr>
              <a:t>模块: from module import x（JS: import x from 'module'）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89B4FA"/>
                </a:solidFill>
              </a:rPr>
              <a:t>  &gt;  </a:t>
            </a:r>
            <a:r>
              <a:rPr sz="1600">
                <a:solidFill>
                  <a:srgbClr val="F5F5F5"/>
                </a:solidFill>
              </a:rPr>
              <a:t>异常: try / except / finally（JS: try / catch / finally）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89B4FA"/>
                </a:solidFill>
              </a:rPr>
              <a:t>  &gt;  </a:t>
            </a:r>
            <a:r>
              <a:rPr sz="1600">
                <a:solidFill>
                  <a:srgbClr val="F5F5F5"/>
                </a:solidFill>
              </a:rPr>
              <a:t>异步: async def + await（JS: async function + await）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89B4FA"/>
                </a:solidFill>
              </a:rPr>
              <a:t>  &gt;  </a:t>
            </a:r>
            <a:r>
              <a:rPr sz="1600">
                <a:solidFill>
                  <a:srgbClr val="F5F5F5"/>
                </a:solidFill>
              </a:rPr>
              <a:t>类型注解: x: int = 5（类似 TypeScript，但不强制）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class Task: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    def __init__(self, title):  # self = JS 的 this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self.title = title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    def complete(self):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        self.done = 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3108960"/>
            <a:ext cx="3840480" cy="15544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AB387"/>
                </a:solidFill>
              </a:defRPr>
            </a:pPr>
            <a:r>
              <a:t>Day 3: 环境管理与 API 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</a:defRPr>
            </a:pPr>
            <a:r>
              <a:t>npm (JS)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npm init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npm install axios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package.json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.env + dotenv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AB387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node index.js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</a:defRPr>
            </a:pPr>
            <a:r>
              <a:t>pip (Python)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python -m venv venv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pip install anthropic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requirements.txt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.env + python-dotenv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A6E3A1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python 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from anthropic import Client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client = Client(api_key=os.getenv("API_KEY"))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response = client.messages.create(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    model="...", max_tokens=200,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    messages=[{"role": "user", "content": "Hi"}]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08960"/>
            <a:ext cx="8412480" cy="15544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E2AF"/>
                </a:solidFill>
              </a:defRPr>
            </a:pPr>
            <a:r>
              <a:t>Day 4: LLM 核心概念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68680" cy="320040"/>
          </a:xfrm>
          <a:prstGeom prst="rect">
            <a:avLst/>
          </a:prstGeom>
          <a:solidFill>
            <a:srgbClr val="F9E2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115568"/>
            <a:ext cx="6446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</a:defRPr>
            </a:pPr>
            <a:r>
              <a:t>文本的最小单位（英文 ~1 word/token，中文 ~1-2 字/token）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581912" cy="320040"/>
          </a:xfrm>
          <a:prstGeom prst="rect">
            <a:avLst/>
          </a:prstGeom>
          <a:solidFill>
            <a:srgbClr val="F9E2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3432" y="1755648"/>
            <a:ext cx="57332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</a:defRPr>
            </a:pPr>
            <a:r>
              <a:t>随机性控制：0=确定性（代码），0.7-1.0=创意写作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39"/>
            <a:ext cx="1819656" cy="320040"/>
          </a:xfrm>
          <a:prstGeom prst="rect">
            <a:avLst/>
          </a:prstGeom>
          <a:solidFill>
            <a:srgbClr val="F9E2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1176" y="2395727"/>
            <a:ext cx="5495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</a:defRPr>
            </a:pPr>
            <a:r>
              <a:t>设定 AI 角色和行为约束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225296" cy="320040"/>
          </a:xfrm>
          <a:prstGeom prst="rect">
            <a:avLst/>
          </a:prstGeom>
          <a:solidFill>
            <a:srgbClr val="F9E2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Few-shot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3035808"/>
            <a:ext cx="6089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</a:defRPr>
            </a:pPr>
            <a:r>
              <a:t>给 2-3 个示例让 AI 照格式回答，比描述格式更有效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868680" cy="320040"/>
          </a:xfrm>
          <a:prstGeom prst="rect">
            <a:avLst/>
          </a:prstGeom>
          <a:solidFill>
            <a:srgbClr val="F9E2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结构化输出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675887"/>
            <a:ext cx="6446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</a:defRPr>
            </a:pPr>
            <a:r>
              <a:t>通过 Prompt 约束 AI 返回 JSON 格式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9B4FA"/>
                </a:solidFill>
              </a:defRPr>
            </a:pPr>
            <a:r>
              <a:t>Day 5: CLI 聊天机器人项目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模块拆分: config.py / client.py / commands.py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@dataclass 管理配置（类似 TS interface）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多轮对话: 维护 message history 传给 API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流式输出: 逐字打印，提升用户体验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命令系统: /help /clear /save /history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持久化: JSON 保存/加载对话记录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1887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chatbot/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__init__.py    # 包入口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config.py      # @dataclass 配置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client.py      # ChatClient 类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commands.py    # 命令处理器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1097280"/>
            <a:ext cx="3657600" cy="18288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6E3A1"/>
                </a:solidFill>
              </a:defRPr>
            </a:pPr>
            <a:r>
              <a:t>Day 6: 综合项目 — 代码笔记生成器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扫描目录下所有 .py 文件（Path.rglob）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异步并发调用 AI（asyncio.gather = Promise.all）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AI 返回 JSON 结构化学习笔记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@timer 装饰器计时 + @retry 重试机制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89B4FA"/>
                </a:solidFill>
              </a:rPr>
              <a:t>  &gt;  </a:t>
            </a:r>
            <a:r>
              <a:rPr sz="1500">
                <a:solidFill>
                  <a:srgbClr val="F5F5F5"/>
                </a:solidFill>
              </a:rPr>
              <a:t>输出 Markdown 报告 + JSON 原始数据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00584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note_generator/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__init__.py     # 统一导出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config.py       # 环境变量管理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scanner.py      # 文件扫描器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generator.py    # AI 笔记生成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output/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notes_report.md # Markdown 报告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notes_data.json # JSON 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914400"/>
            <a:ext cx="3657600" cy="27432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# 串行（慢）          # 并行（快）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for f in files:      tasks = [gen(f) for f in files]</a:t>
            </a:r>
          </a:p>
          <a:p>
            <a:pPr>
              <a:spcAft>
                <a:spcPts val="200"/>
              </a:spcAft>
              <a:defRPr sz="1200">
                <a:solidFill>
                  <a:srgbClr val="A6E3A1"/>
                </a:solidFill>
                <a:latin typeface="Consolas"/>
              </a:defRPr>
            </a:pPr>
            <a:r>
              <a:t>  await gen(f)       await asyncio.gather(*tasks)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291840"/>
            <a:ext cx="8412480" cy="12801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9B4FA"/>
                </a:solidFill>
              </a:defRPr>
            </a:pPr>
            <a:r>
              <a:t>Python vs JavaScript 核心对照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777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777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1E2E"/>
                </a:solidFill>
              </a:defRPr>
            </a:pPr>
            <a:r>
              <a:t>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8686800" cy="34747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15568"/>
            <a:ext cx="8686800" cy="329184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变量声明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const / let / var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1430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直接赋值，无需关键字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72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布尔值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472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true /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47218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True / False（大写）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773936"/>
            <a:ext cx="8686800" cy="329184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801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空值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8013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null / undefined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013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None（只有一个）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字符串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130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`${x}` 模板字符串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305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f"{x}" f-string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432304"/>
            <a:ext cx="8686800" cy="329184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4597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数组/列表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459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[].map() .filter()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45973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列表推导式 [x for x in ...]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对象/字典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obj.key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788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dict['key'] / dict.get('key')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090672"/>
            <a:ext cx="8686800" cy="329184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118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类构造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31181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constructor()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1181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__init__(self)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3447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this/self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447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this（隐式）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4472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self（显式，必须写）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3749039"/>
            <a:ext cx="8686800" cy="329184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776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模块导入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776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import x from 'y'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7764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from y import 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105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错误处理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1056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try / catch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1056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try / except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4407407"/>
            <a:ext cx="8686800" cy="329184"/>
          </a:xfrm>
          <a:prstGeom prst="rect">
            <a:avLst/>
          </a:prstGeom>
          <a:solidFill>
            <a:srgbClr val="28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E2AF"/>
                </a:solidFill>
              </a:defRPr>
            </a:pPr>
            <a:r>
              <a:t>代码块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434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B387"/>
                </a:solidFill>
              </a:defRPr>
            </a:pPr>
            <a:r>
              <a:t>{ } 花括号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434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6E3A1"/>
                </a:solidFill>
              </a:defRPr>
            </a:pPr>
            <a:r>
              <a:t>缩进（4空格）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9B4FA"/>
                </a:solidFill>
              </a:defRPr>
            </a:pPr>
            <a:r>
              <a:t>练习完成情况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49808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789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</a:defRPr>
            </a:pPr>
            <a:r>
              <a:t>practice_01: Python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列表操作、字典处理、成绩计算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749808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647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</a:defRPr>
            </a:pPr>
            <a:r>
              <a:t>practice_02: 类与模块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756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Task 类、TaskManager、继承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749808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50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</a:defRPr>
            </a:pPr>
            <a:r>
              <a:t>practice_03: 文件 I/O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614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JSON 读写、文件扫描、报告生成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749808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36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</a:defRPr>
            </a:pPr>
            <a:r>
              <a:t>practice_04: API 调用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472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角色扮演、流式输出、retry 装饰器、few-shot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749808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22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</a:defRPr>
            </a:pPr>
            <a:r>
              <a:t>practice_05: 综合项目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33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笔记生成器（异步并发 + 模块拆分）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AB387"/>
                </a:solidFill>
              </a:defRPr>
            </a:pPr>
            <a:r>
              <a:t>自建参考手册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889504" cy="320040"/>
          </a:xfrm>
          <a:prstGeom prst="rect">
            <a:avLst/>
          </a:prstGeom>
          <a:solidFill>
            <a:srgbClr val="FAB3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reference_list_dict.py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</a:defRPr>
            </a:pPr>
            <a:r>
              <a:t>列表和字典常用操作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append/pop/sort/sorted、lambda、列表推导式、</a:t>
            </a:r>
            <a:br/>
            <a:r>
              <a:t>dict 增删查改、enumerate/zip/any/all/min/max/sum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2295144" cy="320040"/>
          </a:xfrm>
          <a:prstGeom prst="rect">
            <a:avLst/>
          </a:prstGeom>
          <a:solidFill>
            <a:srgbClr val="FAB3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reference_json.py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</a:defRPr>
            </a:pPr>
            <a:r>
              <a:t>JSON 操作大全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dumps/loads/dump/load、嵌套操作、</a:t>
            </a:r>
            <a:br/>
            <a:r>
              <a:t>自定义序列化(default=str)、深拷贝技巧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2176272" cy="320040"/>
          </a:xfrm>
          <a:prstGeom prst="rect">
            <a:avLst/>
          </a:prstGeom>
          <a:solidFill>
            <a:srgbClr val="FAB38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07_new_syntax.py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F5F5"/>
                </a:solidFill>
              </a:defRPr>
            </a:pPr>
            <a:r>
              <a:t>Python 3.8~3.13 新语法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:= 海象运算符、| 字典合并、match/case 模式匹配、</a:t>
            </a:r>
            <a:br/>
            <a:r>
              <a:t>except* 异常组、f-string 增强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9B4FA"/>
                </a:solidFill>
              </a:defRPr>
            </a:pPr>
            <a:r>
              <a:t>Python 新语法速查（你是 3.11）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630936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3.8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987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</a:defRPr>
            </a:pPr>
            <a:r>
              <a:t>:= 海象运算符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875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3A1"/>
                </a:solidFill>
              </a:defRPr>
            </a:pPr>
            <a:r>
              <a:t>if (n := len(a)) &gt; 10: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9875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6E3A1"/>
                </a:solidFill>
              </a:defRPr>
            </a:pPr>
            <a:r>
              <a:t>CAN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630936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3.9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179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</a:defRPr>
            </a:pPr>
            <a:r>
              <a:t>| 字典合并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179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3A1"/>
                </a:solidFill>
              </a:defRPr>
            </a:pPr>
            <a:r>
              <a:t>merged = dict_a | dict_b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5179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6E3A1"/>
                </a:solidFill>
              </a:defRPr>
            </a:pPr>
            <a:r>
              <a:t>CAN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66543"/>
            <a:ext cx="749808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3.10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04825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</a:defRPr>
            </a:pPr>
            <a:r>
              <a:t>match/case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482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3A1"/>
                </a:solidFill>
              </a:defRPr>
            </a:pPr>
            <a:r>
              <a:t>match status: case 200: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4825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6E3A1"/>
                </a:solidFill>
              </a:defRPr>
            </a:pPr>
            <a:r>
              <a:t>CAN USE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96896"/>
            <a:ext cx="749808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3.10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78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</a:defRPr>
            </a:pPr>
            <a:r>
              <a:t>int | str 类型注解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578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3A1"/>
                </a:solidFill>
              </a:defRPr>
            </a:pPr>
            <a:r>
              <a:t>def f(x: int | str):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578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6E3A1"/>
                </a:solidFill>
              </a:defRPr>
            </a:pPr>
            <a:r>
              <a:t>CAN 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27248"/>
            <a:ext cx="749808" cy="320040"/>
          </a:xfrm>
          <a:prstGeom prst="rect">
            <a:avLst/>
          </a:prstGeom>
          <a:solidFill>
            <a:srgbClr val="A6E3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3.11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</a:defRPr>
            </a:pPr>
            <a:r>
              <a:t>except* 异常组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6E3A1"/>
                </a:solidFill>
              </a:defRPr>
            </a:pPr>
            <a:r>
              <a:t>except* ValueError as eg: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108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6E3A1"/>
                </a:solidFill>
              </a:defRPr>
            </a:pPr>
            <a:r>
              <a:t>CAN 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749808" cy="320040"/>
          </a:xfrm>
          <a:prstGeom prst="rect">
            <a:avLst/>
          </a:prstGeom>
          <a:solidFill>
            <a:srgbClr val="A0A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3.12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639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</a:defRPr>
            </a:pPr>
            <a:r>
              <a:t>f-string 嵌套引号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639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f"name: {d["key"]}"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639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6070"/>
                </a:solidFill>
              </a:defRPr>
            </a:pPr>
            <a:r>
              <a:t>3.12+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87952"/>
            <a:ext cx="749808" cy="320040"/>
          </a:xfrm>
          <a:prstGeom prst="rect">
            <a:avLst/>
          </a:prstGeom>
          <a:solidFill>
            <a:srgbClr val="A0A0B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E1E2E"/>
                </a:solidFill>
              </a:defRPr>
            </a:pPr>
            <a:r>
              <a:t>3.13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1696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F5F5"/>
                </a:solidFill>
              </a:defRPr>
            </a:pPr>
            <a:r>
              <a:t>JIT 编译器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1696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</a:defRPr>
            </a:pPr>
            <a:r>
              <a:t>自动优化热点代码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169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6070"/>
                </a:solidFill>
              </a:defRPr>
            </a:pPr>
            <a:r>
              <a:t>3.12+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E2AF"/>
                </a:solidFill>
              </a:defRPr>
            </a:pPr>
            <a:r>
              <a:t>10 个关键心得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9B4FA"/>
                </a:solidFill>
              </a:defRPr>
            </a:pPr>
            <a:r>
              <a:t> 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缩进即语法 — 4 空格不是风格，是语法要求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3385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9B4FA"/>
                </a:solidFill>
              </a:defRPr>
            </a:pPr>
            <a:r>
              <a:t>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338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self 必须显式写 — 不像 JS 的 this 是隐式的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9B4FA"/>
                </a:solidFill>
              </a:defRPr>
            </a:pPr>
            <a:r>
              <a:t>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列表推导式 &gt; filter + lambda — 更 Pythonic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3852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9B4FA"/>
                </a:solidFill>
              </a:defRPr>
            </a:pPr>
            <a:r>
              <a:t> 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dict.get() &gt; dict[] — 安全取值不报错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408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9B4FA"/>
                </a:solidFill>
              </a:defRPr>
            </a:pPr>
            <a:r>
              <a:t> 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4086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with open() — 自动关闭文件，防止资源泄漏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</a:defRPr>
            </a:pPr>
            <a:r>
              <a:t> 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432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f-string — 最好用的字符串格式化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14553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</a:defRPr>
            </a:pPr>
            <a:r>
              <a:t> 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455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Path &gt; os.path — 更现代，可以链式操作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5478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</a:defRPr>
            </a:pPr>
            <a:r>
              <a:t> 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478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生成器省内存 — sum(1 for ...) 比 len(list) 高效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9502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</a:defRPr>
            </a:pPr>
            <a:r>
              <a:t> 9.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502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asyncio.gather = Promise.all — 并行调用的关键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3525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</a:defRPr>
            </a:pPr>
            <a:r>
              <a:t> 10.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5254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</a:defRPr>
            </a:pPr>
            <a:r>
              <a:t>JSON 是字符串，dict 是数据结构 — 别混淆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6E3A1"/>
                </a:solidFill>
              </a:defRPr>
            </a:pPr>
            <a:r>
              <a:t>综合项目架构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[Scanner]              [NoteGenerator]              [Output]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    |                        |                         |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Path.rglob()      AsyncAnthropic + gather()      Markdown + JSON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    |                        |                         |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.py files  ------&gt;   AI parallel calls  ------&gt;   notes_report.md</a:t>
            </a:r>
          </a:p>
          <a:p>
            <a:pPr>
              <a:spcAft>
                <a:spcPts val="200"/>
              </a:spcAft>
              <a:defRPr sz="1300">
                <a:solidFill>
                  <a:srgbClr val="A6E3A1"/>
                </a:solidFill>
                <a:latin typeface="Consolas"/>
              </a:defRPr>
            </a:pPr>
            <a:r>
              <a:t>                                                   notes_data.json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8412480" cy="201168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9B4FA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Config: 集中管理环境变量（.env + 验证）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9B4FA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Scanner: 递归扫描 + 文件元数据（行数/大小）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9B4FA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NoteGenerator: 异步 AI 调用 + JSON 解析 + 错误兜底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9B4FA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@timer 装饰器: 同时支持 sync / async 函数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9B4FA"/>
                </a:solidFill>
              </a:rPr>
              <a:t>  &gt;  </a:t>
            </a:r>
            <a:r>
              <a:rPr sz="1400">
                <a:solidFill>
                  <a:srgbClr val="F5F5F5"/>
                </a:solidFill>
              </a:rPr>
              <a:t>命令行参数: sys.argv 指定扫描目录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9B4FA"/>
                </a:solidFill>
              </a:defRPr>
            </a:pPr>
            <a:r>
              <a:t>Week 1 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5F5F5"/>
                </a:solidFill>
              </a:defRPr>
            </a:pPr>
            <a:r>
              <a:t>从 JavaScript 到 Python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</a:defRPr>
            </a:pPr>
            <a:r>
              <a:t>6 天课程  |  5 个练习  |  3 份参考手册  |  1 个综合项目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6E3A1"/>
                </a:solidFill>
              </a:defRPr>
            </a:pPr>
            <a:r>
              <a:t>Next: Week 2 &gt;&gt;&gt;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